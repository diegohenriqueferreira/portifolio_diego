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F2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1F26"/>
                </a:solidFill>
                <a:latin typeface="Calibri"/>
              </a:rPr>
              <a:t>Ponto de Pedido — Projeção de Estoque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Estoque Projetado</c:v>
                </c:pt>
              </c:strCache>
            </c:strRef>
          </c:tx>
          <c:spPr>
            <a:solidFill>
              <a:srgbClr val="14213D"/>
            </a:solidFill>
            <a:ln w="2540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110</c:v>
                </c:pt>
                <c:pt idx="2">
                  <c:v>95</c:v>
                </c:pt>
                <c:pt idx="3">
                  <c:v>130</c:v>
                </c:pt>
                <c:pt idx="4">
                  <c:v>140</c:v>
                </c:pt>
                <c:pt idx="5">
                  <c:v>125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Ponto de Reposição</c:v>
                </c:pt>
              </c:strCache>
            </c:strRef>
          </c:tx>
          <c:spPr>
            <a:solidFill>
              <a:srgbClr val="D64550"/>
            </a:solidFill>
            <a:ln w="25400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Estoque Mínimo</c:v>
                </c:pt>
              </c:strCache>
            </c:strRef>
          </c:tx>
          <c:spPr>
            <a:solidFill>
              <a:srgbClr val="E8A33D"/>
            </a:solidFill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5C6B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F2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1F26"/>
                </a:solidFill>
                <a:latin typeface="Calibri"/>
              </a:rPr>
              <a:t>RCs por Faixa de Cobertura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RCs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C1F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&lt;15d</c:v>
                  </c:pt>
                  <c:pt idx="1">
                    <c:v>15-30d</c:v>
                  </c:pt>
                  <c:pt idx="2">
                    <c:v>30-60d</c:v>
                  </c:pt>
                  <c:pt idx="3">
                    <c:v>60-90d</c:v>
                  </c:pt>
                  <c:pt idx="4">
                    <c:v>&gt;90d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7</c:v>
                </c:pt>
                <c:pt idx="2">
                  <c:v>5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C1F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F2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1F26"/>
                </a:solidFill>
                <a:latin typeface="Calibri"/>
              </a:rPr>
              <a:t>Ponto de Pedido — Projeção de Estoque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Estoque Projetado</c:v>
                </c:pt>
              </c:strCache>
            </c:strRef>
          </c:tx>
          <c:spPr>
            <a:solidFill>
              <a:srgbClr val="14213D"/>
            </a:solidFill>
            <a:ln w="2540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110</c:v>
                </c:pt>
                <c:pt idx="2">
                  <c:v>95</c:v>
                </c:pt>
                <c:pt idx="3">
                  <c:v>130</c:v>
                </c:pt>
                <c:pt idx="4">
                  <c:v>140</c:v>
                </c:pt>
                <c:pt idx="5">
                  <c:v>125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Ponto de Reposição</c:v>
                </c:pt>
              </c:strCache>
            </c:strRef>
          </c:tx>
          <c:spPr>
            <a:solidFill>
              <a:srgbClr val="D64550"/>
            </a:solidFill>
            <a:ln w="25400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Estoque Mínimo</c:v>
                </c:pt>
              </c:strCache>
            </c:strRef>
          </c:tx>
          <c:spPr>
            <a:solidFill>
              <a:srgbClr val="E8A33D"/>
            </a:solidFill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5C6B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F2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1F26"/>
                </a:solidFill>
                <a:latin typeface="Calibri"/>
              </a:rPr>
              <a:t>Cobertura de Estoque por Material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Cobertura Atual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Mat A</c:v>
                  </c:pt>
                  <c:pt idx="1">
                    <c:v>Mat B</c:v>
                  </c:pt>
                  <c:pt idx="2">
                    <c:v>Mat C</c:v>
                  </c:pt>
                  <c:pt idx="3">
                    <c:v>Mat D</c:v>
                  </c:pt>
                  <c:pt idx="4">
                    <c:v>Mat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45</c:v>
                </c:pt>
                <c:pt idx="2">
                  <c:v>18</c:v>
                </c:pt>
                <c:pt idx="3">
                  <c:v>60</c:v>
                </c:pt>
                <c:pt idx="4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Cobertura Ideal</c:v>
                </c:pt>
              </c:strCache>
            </c:strRef>
          </c:tx>
          <c:spPr>
            <a:solidFill>
              <a:srgbClr val="AEB8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Mat A</c:v>
                  </c:pt>
                  <c:pt idx="1">
                    <c:v>Mat B</c:v>
                  </c:pt>
                  <c:pt idx="2">
                    <c:v>Mat C</c:v>
                  </c:pt>
                  <c:pt idx="3">
                    <c:v>Mat D</c:v>
                  </c:pt>
                  <c:pt idx="4">
                    <c:v>Mat 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5C6B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F2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1F26"/>
                </a:solidFill>
                <a:latin typeface="Calibri"/>
              </a:rPr>
              <a:t>Cobertura de Estoque por Material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Cobertura Atual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Mat A</c:v>
                  </c:pt>
                  <c:pt idx="1">
                    <c:v>Mat B</c:v>
                  </c:pt>
                  <c:pt idx="2">
                    <c:v>Mat C</c:v>
                  </c:pt>
                  <c:pt idx="3">
                    <c:v>Mat D</c:v>
                  </c:pt>
                  <c:pt idx="4">
                    <c:v>Mat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45</c:v>
                </c:pt>
                <c:pt idx="2">
                  <c:v>18</c:v>
                </c:pt>
                <c:pt idx="3">
                  <c:v>60</c:v>
                </c:pt>
                <c:pt idx="4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Cobertura Ideal</c:v>
                </c:pt>
              </c:strCache>
            </c:strRef>
          </c:tx>
          <c:spPr>
            <a:solidFill>
              <a:srgbClr val="AEB8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Mat A</c:v>
                  </c:pt>
                  <c:pt idx="1">
                    <c:v>Mat B</c:v>
                  </c:pt>
                  <c:pt idx="2">
                    <c:v>Mat C</c:v>
                  </c:pt>
                  <c:pt idx="3">
                    <c:v>Mat D</c:v>
                  </c:pt>
                  <c:pt idx="4">
                    <c:v>Mat 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5C6B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F2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1F26"/>
                </a:solidFill>
                <a:latin typeface="Calibri"/>
              </a:rPr>
              <a:t>Ponto de Pedido — Projeção de Estoque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Estoque Projetado</c:v>
                </c:pt>
              </c:strCache>
            </c:strRef>
          </c:tx>
          <c:spPr>
            <a:solidFill>
              <a:srgbClr val="14213D"/>
            </a:solidFill>
            <a:ln w="2540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110</c:v>
                </c:pt>
                <c:pt idx="2">
                  <c:v>95</c:v>
                </c:pt>
                <c:pt idx="3">
                  <c:v>130</c:v>
                </c:pt>
                <c:pt idx="4">
                  <c:v>140</c:v>
                </c:pt>
                <c:pt idx="5">
                  <c:v>125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Ponto de Reposição</c:v>
                </c:pt>
              </c:strCache>
            </c:strRef>
          </c:tx>
          <c:spPr>
            <a:solidFill>
              <a:srgbClr val="D64550"/>
            </a:solidFill>
            <a:ln w="25400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Estoque Mínimo</c:v>
                </c:pt>
              </c:strCache>
            </c:strRef>
          </c:tx>
          <c:spPr>
            <a:solidFill>
              <a:srgbClr val="E8A33D"/>
            </a:solidFill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5C6B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F2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1F26"/>
                </a:solidFill>
                <a:latin typeface="Calibri"/>
              </a:rPr>
              <a:t>Ponto de Pedido — Projeção de Estoque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Estoque Projetado</c:v>
                </c:pt>
              </c:strCache>
            </c:strRef>
          </c:tx>
          <c:spPr>
            <a:solidFill>
              <a:srgbClr val="14213D"/>
            </a:solidFill>
            <a:ln w="2540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110</c:v>
                </c:pt>
                <c:pt idx="2">
                  <c:v>95</c:v>
                </c:pt>
                <c:pt idx="3">
                  <c:v>130</c:v>
                </c:pt>
                <c:pt idx="4">
                  <c:v>140</c:v>
                </c:pt>
                <c:pt idx="5">
                  <c:v>125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Ponto de Reposição</c:v>
                </c:pt>
              </c:strCache>
            </c:strRef>
          </c:tx>
          <c:spPr>
            <a:solidFill>
              <a:srgbClr val="D64550"/>
            </a:solidFill>
            <a:ln w="25400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Estoque Mínimo</c:v>
                </c:pt>
              </c:strCache>
            </c:strRef>
          </c:tx>
          <c:spPr>
            <a:solidFill>
              <a:srgbClr val="E8A33D"/>
            </a:solidFill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5C6B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F2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1F26"/>
                </a:solidFill>
                <a:latin typeface="Calibri"/>
              </a:rPr>
              <a:t>RCs por Faixa de Cobertura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RCs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C1F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&lt;15d</c:v>
                  </c:pt>
                  <c:pt idx="1">
                    <c:v>15-30d</c:v>
                  </c:pt>
                  <c:pt idx="2">
                    <c:v>30-60d</c:v>
                  </c:pt>
                  <c:pt idx="3">
                    <c:v>60-90d</c:v>
                  </c:pt>
                  <c:pt idx="4">
                    <c:v>&gt;90d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7</c:v>
                </c:pt>
                <c:pt idx="2">
                  <c:v>5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C1F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F2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1F26"/>
                </a:solidFill>
                <a:latin typeface="Calibri"/>
              </a:rPr>
              <a:t>Ponto de Pedido — Projeção de Estoque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Estoque Projetado</c:v>
                </c:pt>
              </c:strCache>
            </c:strRef>
          </c:tx>
          <c:spPr>
            <a:solidFill>
              <a:srgbClr val="14213D"/>
            </a:solidFill>
            <a:ln w="2540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110</c:v>
                </c:pt>
                <c:pt idx="2">
                  <c:v>95</c:v>
                </c:pt>
                <c:pt idx="3">
                  <c:v>130</c:v>
                </c:pt>
                <c:pt idx="4">
                  <c:v>140</c:v>
                </c:pt>
                <c:pt idx="5">
                  <c:v>125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Ponto de Reposição</c:v>
                </c:pt>
              </c:strCache>
            </c:strRef>
          </c:tx>
          <c:spPr>
            <a:solidFill>
              <a:srgbClr val="D64550"/>
            </a:solidFill>
            <a:ln w="25400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Estoque Mínimo</c:v>
                </c:pt>
              </c:strCache>
            </c:strRef>
          </c:tx>
          <c:spPr>
            <a:solidFill>
              <a:srgbClr val="E8A33D"/>
            </a:solidFill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5C6B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F2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1F26"/>
                </a:solidFill>
                <a:latin typeface="Calibri"/>
              </a:rPr>
              <a:t>Cobertura de Estoque por Material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Cobertura Atual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Mat A</c:v>
                  </c:pt>
                  <c:pt idx="1">
                    <c:v>Mat B</c:v>
                  </c:pt>
                  <c:pt idx="2">
                    <c:v>Mat C</c:v>
                  </c:pt>
                  <c:pt idx="3">
                    <c:v>Mat D</c:v>
                  </c:pt>
                  <c:pt idx="4">
                    <c:v>Mat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45</c:v>
                </c:pt>
                <c:pt idx="2">
                  <c:v>18</c:v>
                </c:pt>
                <c:pt idx="3">
                  <c:v>60</c:v>
                </c:pt>
                <c:pt idx="4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Cobertura Ideal</c:v>
                </c:pt>
              </c:strCache>
            </c:strRef>
          </c:tx>
          <c:spPr>
            <a:solidFill>
              <a:srgbClr val="AEB8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Mat A</c:v>
                  </c:pt>
                  <c:pt idx="1">
                    <c:v>Mat B</c:v>
                  </c:pt>
                  <c:pt idx="2">
                    <c:v>Mat C</c:v>
                  </c:pt>
                  <c:pt idx="3">
                    <c:v>Mat D</c:v>
                  </c:pt>
                  <c:pt idx="4">
                    <c:v>Mat 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5C6B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F2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1F26"/>
                </a:solidFill>
                <a:latin typeface="Calibri"/>
              </a:rPr>
              <a:t>Ponto de Pedido — Projeção de Estoque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Estoque Projetado</c:v>
                </c:pt>
              </c:strCache>
            </c:strRef>
          </c:tx>
          <c:spPr>
            <a:solidFill>
              <a:srgbClr val="14213D"/>
            </a:solidFill>
            <a:ln w="2540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110</c:v>
                </c:pt>
                <c:pt idx="2">
                  <c:v>95</c:v>
                </c:pt>
                <c:pt idx="3">
                  <c:v>130</c:v>
                </c:pt>
                <c:pt idx="4">
                  <c:v>140</c:v>
                </c:pt>
                <c:pt idx="5">
                  <c:v>125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Ponto de Reposição</c:v>
                </c:pt>
              </c:strCache>
            </c:strRef>
          </c:tx>
          <c:spPr>
            <a:solidFill>
              <a:srgbClr val="D64550"/>
            </a:solidFill>
            <a:ln w="25400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Estoque Mínimo</c:v>
                </c:pt>
              </c:strCache>
            </c:strRef>
          </c:tx>
          <c:spPr>
            <a:solidFill>
              <a:srgbClr val="E8A33D"/>
            </a:solidFill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5C6B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F2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1F26"/>
                </a:solidFill>
                <a:latin typeface="Calibri"/>
              </a:rPr>
              <a:t>Cobertura de Estoque por Material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Cobertura Atual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Mat A</c:v>
                  </c:pt>
                  <c:pt idx="1">
                    <c:v>Mat B</c:v>
                  </c:pt>
                  <c:pt idx="2">
                    <c:v>Mat C</c:v>
                  </c:pt>
                  <c:pt idx="3">
                    <c:v>Mat D</c:v>
                  </c:pt>
                  <c:pt idx="4">
                    <c:v>Mat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45</c:v>
                </c:pt>
                <c:pt idx="2">
                  <c:v>18</c:v>
                </c:pt>
                <c:pt idx="3">
                  <c:v>60</c:v>
                </c:pt>
                <c:pt idx="4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Cobertura Ideal</c:v>
                </c:pt>
              </c:strCache>
            </c:strRef>
          </c:tx>
          <c:spPr>
            <a:solidFill>
              <a:srgbClr val="AEB8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Mat A</c:v>
                  </c:pt>
                  <c:pt idx="1">
                    <c:v>Mat B</c:v>
                  </c:pt>
                  <c:pt idx="2">
                    <c:v>Mat C</c:v>
                  </c:pt>
                  <c:pt idx="3">
                    <c:v>Mat D</c:v>
                  </c:pt>
                  <c:pt idx="4">
                    <c:v>Mat 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5C6B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Calibri"/>
              </a:rPr>
              <a:t>Tendência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Estoque Projetado</c:v>
                </c:pt>
              </c:strCache>
            </c:strRef>
          </c:tx>
          <c:spPr>
            <a:solidFill>
              <a:srgbClr val="14213D"/>
            </a:solidFill>
            <a:ln w="2540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110</c:v>
                </c:pt>
                <c:pt idx="2">
                  <c:v>95</c:v>
                </c:pt>
                <c:pt idx="3">
                  <c:v>130</c:v>
                </c:pt>
                <c:pt idx="4">
                  <c:v>140</c:v>
                </c:pt>
                <c:pt idx="5">
                  <c:v>125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Ponto de Reposição</c:v>
                </c:pt>
              </c:strCache>
            </c:strRef>
          </c:tx>
          <c:spPr>
            <a:solidFill>
              <a:srgbClr val="D64550"/>
            </a:solidFill>
            <a:ln w="25400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Estoque Mínimo</c:v>
                </c:pt>
              </c:strCache>
            </c:strRef>
          </c:tx>
          <c:spPr>
            <a:solidFill>
              <a:srgbClr val="E8A33D"/>
            </a:solidFill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EB8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2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EB8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AEB8C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Calibri"/>
              </a:rPr>
              <a:t>RCs por Faixa de Cobertura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RCs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&lt;15d</c:v>
                  </c:pt>
                  <c:pt idx="1">
                    <c:v>15-30d</c:v>
                  </c:pt>
                  <c:pt idx="2">
                    <c:v>30-60d</c:v>
                  </c:pt>
                  <c:pt idx="3">
                    <c:v>60-90d</c:v>
                  </c:pt>
                  <c:pt idx="4">
                    <c:v>&gt;90d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7</c:v>
                </c:pt>
                <c:pt idx="2">
                  <c:v>5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EB8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2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EB8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F2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1F26"/>
                </a:solidFill>
                <a:latin typeface="Calibri"/>
              </a:rPr>
              <a:t>Projeção de Estoque vs. Ponto de Reposição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Estoque Projetado</c:v>
                </c:pt>
              </c:strCache>
            </c:strRef>
          </c:tx>
          <c:spPr>
            <a:solidFill>
              <a:srgbClr val="14213D"/>
            </a:solidFill>
            <a:ln w="2540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110</c:v>
                </c:pt>
                <c:pt idx="2">
                  <c:v>95</c:v>
                </c:pt>
                <c:pt idx="3">
                  <c:v>130</c:v>
                </c:pt>
                <c:pt idx="4">
                  <c:v>140</c:v>
                </c:pt>
                <c:pt idx="5">
                  <c:v>125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Ponto de Reposição</c:v>
                </c:pt>
              </c:strCache>
            </c:strRef>
          </c:tx>
          <c:spPr>
            <a:solidFill>
              <a:srgbClr val="D64550"/>
            </a:solidFill>
            <a:ln w="25400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Estoque Mínimo</c:v>
                </c:pt>
              </c:strCache>
            </c:strRef>
          </c:tx>
          <c:spPr>
            <a:solidFill>
              <a:srgbClr val="E8A33D"/>
            </a:solidFill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5C6B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MATERIAIS — PCM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Propostas de Layout — Aba Dashboard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290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Reorganizações visuais do painel de estoque e suprimentos (RCs, cobertura, acuracidade, materiais críticos, excesso e ODT), com foco em leitura executiva rápida e padrão de indústria pesada.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exibidos nos mock-ups são ilustrativos, para fins de demonstração de layout.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Executivo Clássico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65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KPIs + tendência e distribuição + tabela de situação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778240" y="384048"/>
            <a:ext cx="932688" cy="292608"/>
          </a:xfrm>
          <a:prstGeom prst="roundRect">
            <a:avLst>
              <a:gd name="adj" fmla="val 156250"/>
            </a:avLst>
          </a:prstGeom>
          <a:solidFill>
            <a:srgbClr val="E3E6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0" y="38404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ABC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820656" y="384048"/>
            <a:ext cx="932688" cy="292608"/>
          </a:xfrm>
          <a:prstGeom prst="roundRect">
            <a:avLst>
              <a:gd name="adj" fmla="val 156250"/>
            </a:avLst>
          </a:prstGeom>
          <a:solidFill>
            <a:srgbClr val="E3E6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20656" y="38404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863072" y="384048"/>
            <a:ext cx="932688" cy="292608"/>
          </a:xfrm>
          <a:prstGeom prst="roundRect">
            <a:avLst>
              <a:gd name="adj" fmla="val 156250"/>
            </a:avLst>
          </a:prstGeom>
          <a:solidFill>
            <a:srgbClr val="E3E6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863072" y="38404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8686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1175004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94183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 PENDENTES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28800" y="8686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38528" y="1175004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084832" y="94183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96,4%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084832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ACURACIDADE DE ESTOQUE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91840" y="8686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01568" y="1175004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47872" y="94183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(9)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547872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PEDIDOS ATRASADOS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1175004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10912" y="94183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010912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ABAIXO DO MÍNIMO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17920" y="8686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1175004"/>
            <a:ext cx="82296" cy="1645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73952" y="94183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R$ 4,82M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EM ESTOQUE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80960" y="8686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90688" y="1175004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936992" y="94183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dias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936992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ESTOQUE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144000" y="8686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53728" y="1175004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400032" y="94183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R$ 356k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400032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EM EXCESSO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607040" y="8686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716768" y="1175004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863072" y="94183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10863072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RUPTURA</a:t>
            </a:r>
            <a:endParaRPr lang="en-US" sz="800" dirty="0"/>
          </a:p>
        </p:txBody>
      </p:sp>
      <p:graphicFrame>
        <p:nvGraphicFramePr>
          <p:cNvPr id="43" name="Chart 0" descr=""/>
          <p:cNvGraphicFramePr/>
          <p:nvPr/>
        </p:nvGraphicFramePr>
        <p:xfrm>
          <a:off x="365760" y="178308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4" name="Chart 1" descr=""/>
          <p:cNvGraphicFramePr/>
          <p:nvPr/>
        </p:nvGraphicFramePr>
        <p:xfrm>
          <a:off x="5989320" y="1783080"/>
          <a:ext cx="58064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251960"/>
          <a:ext cx="11430000" cy="2240280"/>
        </p:xfrm>
        <a:graphic>
          <a:graphicData uri="http://schemas.openxmlformats.org/drawingml/2006/table">
            <a:tbl>
              <a:tblPr/>
              <a:tblGrid>
                <a:gridCol w="2514600"/>
                <a:gridCol w="1257300"/>
                <a:gridCol w="1828800"/>
                <a:gridCol w="1143000"/>
                <a:gridCol w="1485900"/>
                <a:gridCol w="1485900"/>
                <a:gridCol w="1714500"/>
              </a:tblGrid>
              <a:tr h="373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Saldo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Cob.(d)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Lead Time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Dias 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Ação Recomendada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Rolamento 6205 ZZ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124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2C30E"/>
                          </a:solidFill>
                        </a:rPr>
                        <a:t>Normal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Monitorar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Correia V-Belt A47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8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Crítico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Filtro de Óleo XT-12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7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Chapa Aço 1020 3mm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560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Excesso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Reduzir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Retentor 40x62x8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35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Abaixo do Mínimo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Programar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de Comando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65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empilhados à esquerda, análises à direita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097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097280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9418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2344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 PENDENTES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572768" y="868680"/>
            <a:ext cx="1097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82496" y="1097280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828800" y="9418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96,4%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12344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ACURACIDADE DE ESTOQUE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79776" y="868680"/>
            <a:ext cx="1097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9504" y="1097280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35808" y="9418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035808" y="12344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EM ESTOQUE PARADO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65760" y="1600200"/>
            <a:ext cx="1097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828800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" y="16733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R$ 187k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19659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ESTOQUE PARADO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572768" y="1600200"/>
            <a:ext cx="1097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82496" y="1828800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828800" y="16733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(9)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19659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PEDIDOS ATRASADOS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79776" y="1600200"/>
            <a:ext cx="1097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9504" y="1828800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035808" y="16733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035808" y="19659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ABAIXO DO MÍNIMO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5760" y="2331720"/>
            <a:ext cx="1097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" y="2560320"/>
            <a:ext cx="82296" cy="1645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1792" y="2404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R$ 4,82M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26974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EM ESTOQUE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572768" y="2331720"/>
            <a:ext cx="1097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82496" y="2560320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828800" y="2404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R$ 356k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828800" y="26974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EM EXCESSO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779776" y="2331720"/>
            <a:ext cx="1097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89504" y="2560320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035808" y="2404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dias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3035808" y="26974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ESTOQUE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65760" y="3063240"/>
            <a:ext cx="1097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3291840"/>
            <a:ext cx="82296" cy="1645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21792" y="3136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3,2x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21792" y="34290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ANUAL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572768" y="3063240"/>
            <a:ext cx="1097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2496" y="3291840"/>
            <a:ext cx="82296" cy="1645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828800" y="3136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1828800" y="34290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PONTO DE REPOSIÇÃO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779776" y="3063240"/>
            <a:ext cx="1097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89504" y="3291840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035808" y="3136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3035808" y="34290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RUPTURA</a:t>
            </a:r>
            <a:endParaRPr lang="en-US" sz="700" dirty="0"/>
          </a:p>
        </p:txBody>
      </p:sp>
      <p:graphicFrame>
        <p:nvGraphicFramePr>
          <p:cNvPr id="53" name="Chart 0" descr=""/>
          <p:cNvGraphicFramePr/>
          <p:nvPr/>
        </p:nvGraphicFramePr>
        <p:xfrm>
          <a:off x="4160520" y="868680"/>
          <a:ext cx="76352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4" name="Chart 1" descr=""/>
          <p:cNvGraphicFramePr/>
          <p:nvPr/>
        </p:nvGraphicFramePr>
        <p:xfrm>
          <a:off x="4160520" y="3108960"/>
          <a:ext cx="763524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074920"/>
          <a:ext cx="11430000" cy="1417320"/>
        </p:xfrm>
        <a:graphic>
          <a:graphicData uri="http://schemas.openxmlformats.org/drawingml/2006/table">
            <a:tbl>
              <a:tblPr/>
              <a:tblGrid>
                <a:gridCol w="2514600"/>
                <a:gridCol w="1257300"/>
                <a:gridCol w="1828800"/>
                <a:gridCol w="1143000"/>
                <a:gridCol w="1485900"/>
                <a:gridCol w="1485900"/>
                <a:gridCol w="1714500"/>
              </a:tblGrid>
              <a:tr h="236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Saldo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Cob.(d)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Lead Time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Dias 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Ação Recomendada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Rolamento 6205 ZZ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124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2C30E"/>
                          </a:solidFill>
                        </a:rPr>
                        <a:t>Normal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Monitorar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Correia V-Belt A47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8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Crítico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Filtro de Óleo XT-12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7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Chapa Aço 1020 3mm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560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Excesso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Reduzir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Retentor 40x62x8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35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Abaixo do Mínimo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Programar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Criticidade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65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em destaque no topo, indicadores de apoio abaixo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266444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941832"/>
            <a:ext cx="2331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57276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RUPTURA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1266444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02152" y="941832"/>
            <a:ext cx="2331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(9)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157276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PEDIDOS ATRASADOS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266444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82512" y="941832"/>
            <a:ext cx="2331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82512" y="157276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ABAIXO DO MÍNIMO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006840" y="8686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16568" y="1266444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62872" y="941832"/>
            <a:ext cx="2331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262872" y="157276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EM ESTOQUE PARADO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011680"/>
            <a:ext cx="1371600" cy="621792"/>
          </a:xfrm>
          <a:prstGeom prst="roundRect">
            <a:avLst>
              <a:gd name="adj" fmla="val 8824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2240280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" y="2084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2377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 PENDENTES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2011680"/>
            <a:ext cx="1371600" cy="621792"/>
          </a:xfrm>
          <a:prstGeom prst="roundRect">
            <a:avLst>
              <a:gd name="adj" fmla="val 8824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38528" y="2240280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084832" y="2084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96,4%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084832" y="2377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ACURACIDADE DE ESTOQUE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91840" y="2011680"/>
            <a:ext cx="1371600" cy="621792"/>
          </a:xfrm>
          <a:prstGeom prst="roundRect">
            <a:avLst>
              <a:gd name="adj" fmla="val 8824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01568" y="2240280"/>
            <a:ext cx="822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47872" y="2084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R$ 4,82M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547872" y="2377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EM ESTOQUE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2011680"/>
            <a:ext cx="1371600" cy="621792"/>
          </a:xfrm>
          <a:prstGeom prst="roundRect">
            <a:avLst>
              <a:gd name="adj" fmla="val 8824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64608" y="2240280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010912" y="2084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R$ 356k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010912" y="2377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EM EXCESSO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17920" y="2011680"/>
            <a:ext cx="1371600" cy="621792"/>
          </a:xfrm>
          <a:prstGeom prst="roundRect">
            <a:avLst>
              <a:gd name="adj" fmla="val 8824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7648" y="2240280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73952" y="2084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dias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473952" y="2377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ESTOQUE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680960" y="2011680"/>
            <a:ext cx="1371600" cy="621792"/>
          </a:xfrm>
          <a:prstGeom prst="roundRect">
            <a:avLst>
              <a:gd name="adj" fmla="val 8824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90688" y="2240280"/>
            <a:ext cx="822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936992" y="2084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3,2x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936992" y="2377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ANUAL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144000" y="2011680"/>
            <a:ext cx="1371600" cy="621792"/>
          </a:xfrm>
          <a:prstGeom prst="roundRect">
            <a:avLst>
              <a:gd name="adj" fmla="val 8824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53728" y="2240280"/>
            <a:ext cx="822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400032" y="2084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9400032" y="2377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PONTO DE REPOSIÇÃO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607040" y="2011680"/>
            <a:ext cx="1371600" cy="621792"/>
          </a:xfrm>
          <a:prstGeom prst="roundRect">
            <a:avLst>
              <a:gd name="adj" fmla="val 8824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16768" y="2240280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863072" y="2084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10863072" y="2377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ODT EM ABERTO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65760" y="3063240"/>
            <a:ext cx="1359408" cy="310896"/>
          </a:xfrm>
          <a:prstGeom prst="roundRect">
            <a:avLst>
              <a:gd name="adj" fmla="val 147059"/>
            </a:avLst>
          </a:prstGeom>
          <a:solidFill>
            <a:srgbClr val="33425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65760" y="3063240"/>
            <a:ext cx="1359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ABC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834896" y="3063240"/>
            <a:ext cx="1359408" cy="310896"/>
          </a:xfrm>
          <a:prstGeom prst="roundRect">
            <a:avLst>
              <a:gd name="adj" fmla="val 147059"/>
            </a:avLst>
          </a:prstGeom>
          <a:solidFill>
            <a:srgbClr val="33425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1834896" y="3063240"/>
            <a:ext cx="1359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Estoque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304032" y="3063240"/>
            <a:ext cx="1359408" cy="310896"/>
          </a:xfrm>
          <a:prstGeom prst="roundRect">
            <a:avLst>
              <a:gd name="adj" fmla="val 147059"/>
            </a:avLst>
          </a:prstGeom>
          <a:solidFill>
            <a:srgbClr val="33425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3304032" y="3063240"/>
            <a:ext cx="1359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66160"/>
          <a:ext cx="7178040" cy="2926080"/>
        </p:xfrm>
        <a:graphic>
          <a:graphicData uri="http://schemas.openxmlformats.org/drawingml/2006/table">
            <a:tbl>
              <a:tblPr/>
              <a:tblGrid>
                <a:gridCol w="1579169"/>
                <a:gridCol w="789584"/>
                <a:gridCol w="1148486"/>
                <a:gridCol w="717804"/>
                <a:gridCol w="933145"/>
                <a:gridCol w="933145"/>
                <a:gridCol w="1076706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Saldo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Cob.(d)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Lead Time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Dias 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Ação Recomendada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Rolamento 6205 ZZ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124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2C30E"/>
                          </a:solidFill>
                        </a:rPr>
                        <a:t>Normal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Monitorar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Correia V-Belt A47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8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Crítico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Filtro de Óleo XT-12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7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Chapa Aço 1020 3mm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560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Excesso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Reduzir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Retentor 40x62x8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35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Abaixo do Mínimo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Programar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</a:tr>
            </a:tbl>
          </a:graphicData>
        </a:graphic>
      </p:graphicFrame>
      <p:sp>
        <p:nvSpPr>
          <p:cNvPr id="60" name="Shape 57"/>
          <p:cNvSpPr/>
          <p:nvPr/>
        </p:nvSpPr>
        <p:spPr>
          <a:xfrm>
            <a:off x="7726680" y="3566160"/>
            <a:ext cx="4069080" cy="2926080"/>
          </a:xfrm>
          <a:prstGeom prst="roundRect">
            <a:avLst>
              <a:gd name="adj" fmla="val 1875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863840" y="363931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MATERIAIS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7863840" y="4709160"/>
            <a:ext cx="1021080" cy="640080"/>
          </a:xfrm>
          <a:prstGeom prst="roundRect">
            <a:avLst>
              <a:gd name="adj" fmla="val 7143"/>
            </a:avLst>
          </a:prstGeom>
          <a:solidFill>
            <a:srgbClr val="14213D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7863840" y="4709160"/>
            <a:ext cx="102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8884920" y="4937760"/>
            <a:ext cx="320040" cy="182880"/>
          </a:xfrm>
          <a:prstGeom prst="rightArrow">
            <a:avLst/>
          </a:prstGeom>
          <a:solidFill>
            <a:srgbClr val="AEB8C4"/>
          </a:solidFill>
          <a:ln/>
        </p:spPr>
      </p:sp>
      <p:sp>
        <p:nvSpPr>
          <p:cNvPr id="65" name="Shape 62"/>
          <p:cNvSpPr/>
          <p:nvPr/>
        </p:nvSpPr>
        <p:spPr>
          <a:xfrm>
            <a:off x="9250680" y="4709160"/>
            <a:ext cx="1021080" cy="640080"/>
          </a:xfrm>
          <a:prstGeom prst="roundRect">
            <a:avLst>
              <a:gd name="adj" fmla="val 7143"/>
            </a:avLst>
          </a:prstGeom>
          <a:solidFill>
            <a:srgbClr val="E8A33D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9250680" y="4709160"/>
            <a:ext cx="102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Pedido?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10271760" y="4937760"/>
            <a:ext cx="320040" cy="182880"/>
          </a:xfrm>
          <a:prstGeom prst="rightArrow">
            <a:avLst/>
          </a:prstGeom>
          <a:solidFill>
            <a:srgbClr val="AEB8C4"/>
          </a:solidFill>
          <a:ln/>
        </p:spPr>
      </p:sp>
      <p:sp>
        <p:nvSpPr>
          <p:cNvPr id="68" name="Shape 65"/>
          <p:cNvSpPr/>
          <p:nvPr/>
        </p:nvSpPr>
        <p:spPr>
          <a:xfrm>
            <a:off x="10637520" y="4709160"/>
            <a:ext cx="1021080" cy="640080"/>
          </a:xfrm>
          <a:prstGeom prst="roundRect">
            <a:avLst>
              <a:gd name="adj" fmla="val 7143"/>
            </a:avLst>
          </a:prstGeom>
          <a:solidFill>
            <a:srgbClr val="32C30E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10637520" y="4709160"/>
            <a:ext cx="102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por Cobertura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65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cobertura como peça central, KPIs nas laterais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600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129284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987552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dias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25272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ESTOQUE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1600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842516"/>
            <a:ext cx="82296" cy="1645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" y="1700784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19659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PONTO DE REPOSIÇÃO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340864"/>
            <a:ext cx="1600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2555748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" y="2414016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26791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ABAIXO DO MÍNIMO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054096"/>
            <a:ext cx="1600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268980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" y="3127248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339242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RUPTURA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966960" y="914400"/>
            <a:ext cx="1600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76688" y="1129284"/>
            <a:ext cx="82296" cy="1645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22992" y="987552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3,2x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222992" y="125272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ANUAL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966960" y="1627632"/>
            <a:ext cx="1600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76688" y="1842516"/>
            <a:ext cx="82296" cy="1645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222992" y="1700784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R$ 4,82M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0222992" y="19659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EM ESTOQUE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966960" y="2340864"/>
            <a:ext cx="1600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76688" y="2555748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222992" y="2414016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R$ 356k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222992" y="26791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EM EXCESSO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966960" y="3054096"/>
            <a:ext cx="1600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76688" y="3268980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222992" y="3127248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(9)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0222992" y="339242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PEDIDOS ATRASADOS</a:t>
            </a:r>
            <a:endParaRPr lang="en-US" sz="8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2148840" y="914400"/>
          <a:ext cx="7635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8" name="Chart 1" descr=""/>
          <p:cNvGraphicFramePr/>
          <p:nvPr/>
        </p:nvGraphicFramePr>
        <p:xfrm>
          <a:off x="365760" y="3794760"/>
          <a:ext cx="54864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3794760"/>
          <a:ext cx="5806440" cy="2651760"/>
        </p:xfrm>
        <a:graphic>
          <a:graphicData uri="http://schemas.openxmlformats.org/drawingml/2006/table">
            <a:tbl>
              <a:tblPr/>
              <a:tblGrid>
                <a:gridCol w="1277417"/>
                <a:gridCol w="638708"/>
                <a:gridCol w="929030"/>
                <a:gridCol w="580644"/>
                <a:gridCol w="754837"/>
                <a:gridCol w="754837"/>
                <a:gridCol w="870966"/>
              </a:tblGrid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Saldo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Cob.(d)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Lead Time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Dias 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Ação Recomendada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Rolamento 6205 ZZ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124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2C30E"/>
                          </a:solidFill>
                        </a:rPr>
                        <a:t>Normal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Monitorar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Correia V-Belt A47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8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Crítico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Filtro de Óleo XT-12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7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Chapa Aço 1020 3mm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560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Excesso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Reduzir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Retentor 40x62x8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35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Abaixo do Mínimo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Programar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Compacto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65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densa de indicadores + tabela detalhada como protagonista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755648" cy="292608"/>
          </a:xfrm>
          <a:prstGeom prst="roundRect">
            <a:avLst>
              <a:gd name="adj" fmla="val 156250"/>
            </a:avLst>
          </a:prstGeom>
          <a:solidFill>
            <a:srgbClr val="E3E6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8686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ABC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31136" y="868680"/>
            <a:ext cx="1755648" cy="292608"/>
          </a:xfrm>
          <a:prstGeom prst="roundRect">
            <a:avLst>
              <a:gd name="adj" fmla="val 156250"/>
            </a:avLst>
          </a:prstGeom>
          <a:solidFill>
            <a:srgbClr val="E3E6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31136" y="8686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Estoque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096512" y="868680"/>
            <a:ext cx="1755648" cy="292608"/>
          </a:xfrm>
          <a:prstGeom prst="roundRect">
            <a:avLst>
              <a:gd name="adj" fmla="val 156250"/>
            </a:avLst>
          </a:prstGeom>
          <a:solidFill>
            <a:srgbClr val="E3E6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096512" y="8686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181051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1472184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135331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15727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 PENDENTES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267712" y="1280160"/>
            <a:ext cx="181051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472184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23744" y="135331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96,4%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523744" y="15727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ACURACIDADE DE ESTOQUE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169664" y="1280160"/>
            <a:ext cx="181051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79392" y="1472184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25696" y="135331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25696" y="15727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EM ESTOQUE PARADO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071616" y="1280160"/>
            <a:ext cx="181051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1344" y="1472184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27648" y="135331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(9)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327648" y="15727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PEDIDOS ATRASADOS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973568" y="1280160"/>
            <a:ext cx="181051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83296" y="1472184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0" y="135331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5727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ABAIXO DO MÍNIMO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875520" y="1280160"/>
            <a:ext cx="181051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85248" y="1472184"/>
            <a:ext cx="82296" cy="1645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131552" y="135331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R$ 4,82M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15727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EM ESTOQUE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5760" y="1920240"/>
            <a:ext cx="181051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" y="2112264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1792" y="199339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R$ 356k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21792" y="22128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EM EXCESSO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267712" y="1920240"/>
            <a:ext cx="181051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2112264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523744" y="199339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dias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2523744" y="22128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ESTOQUE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69664" y="1920240"/>
            <a:ext cx="181051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79392" y="2112264"/>
            <a:ext cx="82296" cy="1645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425696" y="199339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3,2x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425696" y="22128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ANUAL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071616" y="1920240"/>
            <a:ext cx="181051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81344" y="2112264"/>
            <a:ext cx="82296" cy="1645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327648" y="199339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327648" y="22128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PONTO DE REPOSIÇÃO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973568" y="1920240"/>
            <a:ext cx="181051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83296" y="2112264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229600" y="199339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8229600" y="22128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RUPTURA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9875520" y="1920240"/>
            <a:ext cx="181051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85248" y="2112264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0131552" y="199339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131552" y="22128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ODT EM ABERTO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46120"/>
          <a:ext cx="11430000" cy="3246120"/>
        </p:xfrm>
        <a:graphic>
          <a:graphicData uri="http://schemas.openxmlformats.org/drawingml/2006/table">
            <a:tbl>
              <a:tblPr/>
              <a:tblGrid>
                <a:gridCol w="2514600"/>
                <a:gridCol w="1257300"/>
                <a:gridCol w="1828800"/>
                <a:gridCol w="1143000"/>
                <a:gridCol w="1485900"/>
                <a:gridCol w="1485900"/>
                <a:gridCol w="1714500"/>
              </a:tblGrid>
              <a:tr h="5410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Saldo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Cob.(d)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Lead Time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Dias 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Ação Recomendada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Rolamento 6205 ZZ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124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2C30E"/>
                          </a:solidFill>
                        </a:rPr>
                        <a:t>Normal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Monitorar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Correia V-Belt A47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8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Crítico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Filtro de Óleo XT-12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7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Chapa Aço 1020 3mm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560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Excesso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Reduzir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Retentor 40x62x8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35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Abaixo do Mínimo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Programar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em Zig-Zag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65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guiada: indicadores → causa → detalhe → 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697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129284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941832"/>
            <a:ext cx="2331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96,4%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2984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ACURACIDADE DE ESTOQUE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697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1129284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02152" y="941832"/>
            <a:ext cx="2331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(9)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12984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PEDIDOS ATRASADOS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697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129284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82512" y="941832"/>
            <a:ext cx="2331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82512" y="12984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ABAIXO DO MÍNIMO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006840" y="868680"/>
            <a:ext cx="2697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16568" y="1129284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62872" y="941832"/>
            <a:ext cx="2331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262872" y="12984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RUPTURA</a:t>
            </a:r>
            <a:endParaRPr lang="en-US" sz="8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1691640"/>
          <a:ext cx="65836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178040" y="1691640"/>
            <a:ext cx="448056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87768" y="2075688"/>
            <a:ext cx="82296" cy="1645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34072" y="176479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R$ 4,82M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434072" y="23682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EM ESTOQUE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178040" y="2734056"/>
            <a:ext cx="448056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287768" y="3118104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434072" y="280720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dias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7434072" y="34107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ESTOQUE</a:t>
            </a:r>
            <a:endParaRPr lang="en-US" sz="800" dirty="0"/>
          </a:p>
        </p:txBody>
      </p:sp>
      <p:graphicFrame>
        <p:nvGraphicFramePr>
          <p:cNvPr id="30" name="Chart 1" descr=""/>
          <p:cNvGraphicFramePr/>
          <p:nvPr/>
        </p:nvGraphicFramePr>
        <p:xfrm>
          <a:off x="365760" y="3794760"/>
          <a:ext cx="51206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3794760"/>
          <a:ext cx="6035040" cy="2651760"/>
        </p:xfrm>
        <a:graphic>
          <a:graphicData uri="http://schemas.openxmlformats.org/drawingml/2006/table">
            <a:tbl>
              <a:tblPr/>
              <a:tblGrid>
                <a:gridCol w="1327709"/>
                <a:gridCol w="663854"/>
                <a:gridCol w="965606"/>
                <a:gridCol w="603504"/>
                <a:gridCol w="784555"/>
                <a:gridCol w="784555"/>
                <a:gridCol w="905256"/>
              </a:tblGrid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Saldo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Cob.(d)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Lead Time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Dias 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Ação Recomendada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Rolamento 6205 ZZ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124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2C30E"/>
                          </a:solidFill>
                        </a:rPr>
                        <a:t>Normal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Monitorar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Correia V-Belt A47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8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Crítico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Filtro de Óleo XT-12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7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Chapa Aço 1020 3mm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560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Excesso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Reduzir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Retentor 40x62x8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35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Abaixo do Mínimo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Programar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7"/>
          <p:cNvSpPr/>
          <p:nvPr/>
        </p:nvSpPr>
        <p:spPr>
          <a:xfrm>
            <a:off x="365760" y="57607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02920" y="58338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MATERIAIS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02920" y="5829300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14213D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502920" y="58293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1874520" y="6057900"/>
            <a:ext cx="320040" cy="182880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37" name="Shape 32"/>
          <p:cNvSpPr/>
          <p:nvPr/>
        </p:nvSpPr>
        <p:spPr>
          <a:xfrm>
            <a:off x="2240280" y="5829300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E8A33D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2240280" y="58293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Pedido?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3611880" y="6057900"/>
            <a:ext cx="320040" cy="182880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40" name="Shape 35"/>
          <p:cNvSpPr/>
          <p:nvPr/>
        </p:nvSpPr>
        <p:spPr>
          <a:xfrm>
            <a:off x="3977640" y="5829300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32C30E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977640" y="58293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com Abas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65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navegação por abas de página, como no Power BI original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503920" y="365760"/>
            <a:ext cx="1024128" cy="274320"/>
          </a:xfrm>
          <a:prstGeom prst="roundRect">
            <a:avLst>
              <a:gd name="adj" fmla="val 166667"/>
            </a:avLst>
          </a:prstGeom>
          <a:solidFill>
            <a:srgbClr val="E3E6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0" y="36576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ABC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637776" y="365760"/>
            <a:ext cx="1024128" cy="274320"/>
          </a:xfrm>
          <a:prstGeom prst="roundRect">
            <a:avLst>
              <a:gd name="adj" fmla="val 166667"/>
            </a:avLst>
          </a:prstGeom>
          <a:solidFill>
            <a:srgbClr val="E3E6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37776" y="36576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771632" y="365760"/>
            <a:ext cx="1024128" cy="274320"/>
          </a:xfrm>
          <a:prstGeom prst="roundRect">
            <a:avLst>
              <a:gd name="adj" fmla="val 166667"/>
            </a:avLst>
          </a:prstGeom>
          <a:solidFill>
            <a:srgbClr val="E3E6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71632" y="36576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804672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804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804672"/>
            <a:ext cx="2286000" cy="365760"/>
          </a:xfrm>
          <a:prstGeom prst="rect">
            <a:avLst/>
          </a:prstGeom>
          <a:solidFill>
            <a:srgbClr val="E3E6E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804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Reposição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804672"/>
            <a:ext cx="2286000" cy="365760"/>
          </a:xfrm>
          <a:prstGeom prst="rect">
            <a:avLst/>
          </a:prstGeom>
          <a:solidFill>
            <a:srgbClr val="E3E6E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804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Críticos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804672"/>
            <a:ext cx="2286000" cy="365760"/>
          </a:xfrm>
          <a:prstGeom prst="rect">
            <a:avLst/>
          </a:prstGeom>
          <a:solidFill>
            <a:srgbClr val="E3E6E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804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Excesso de Estoque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509760" y="804672"/>
            <a:ext cx="2286000" cy="365760"/>
          </a:xfrm>
          <a:prstGeom prst="rect">
            <a:avLst/>
          </a:prstGeom>
          <a:solidFill>
            <a:srgbClr val="E3E6E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09760" y="804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28016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1540764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" y="1353312"/>
            <a:ext cx="1005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17099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 PENDENTES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128016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38528" y="1540764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084832" y="1353312"/>
            <a:ext cx="1005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96,4%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2084832" y="17099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ACURACIDADE DE ESTOQUE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91840" y="128016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01568" y="1540764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47872" y="1353312"/>
            <a:ext cx="1005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(9)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3547872" y="17099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PEDIDOS ATRASADOS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128016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64608" y="1540764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010912" y="1353312"/>
            <a:ext cx="1005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5010912" y="17099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ABAIXO DO MÍNIMO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17920" y="128016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7648" y="1540764"/>
            <a:ext cx="82296" cy="1645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73952" y="1353312"/>
            <a:ext cx="1005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R$ 4,82M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6473952" y="17099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EM ESTOQUE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680960" y="128016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90688" y="1540764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936992" y="1353312"/>
            <a:ext cx="1005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R$ 356k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936992" y="17099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EM EXCESSO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144000" y="128016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53728" y="1540764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400032" y="1353312"/>
            <a:ext cx="1005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dias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9400032" y="17099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ESTOQUE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607040" y="128016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16768" y="1540764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863072" y="1353312"/>
            <a:ext cx="1005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10863072" y="17099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RUPTURA</a:t>
            </a:r>
            <a:endParaRPr lang="en-US" sz="800" dirty="0"/>
          </a:p>
        </p:txBody>
      </p:sp>
      <p:graphicFrame>
        <p:nvGraphicFramePr>
          <p:cNvPr id="53" name="Chart 0" descr=""/>
          <p:cNvGraphicFramePr/>
          <p:nvPr/>
        </p:nvGraphicFramePr>
        <p:xfrm>
          <a:off x="365760" y="2148840"/>
          <a:ext cx="54864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4" name="Chart 1" descr=""/>
          <p:cNvGraphicFramePr/>
          <p:nvPr/>
        </p:nvGraphicFramePr>
        <p:xfrm>
          <a:off x="5989320" y="2148840"/>
          <a:ext cx="58064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434840"/>
          <a:ext cx="11430000" cy="2057400"/>
        </p:xfrm>
        <a:graphic>
          <a:graphicData uri="http://schemas.openxmlformats.org/drawingml/2006/table">
            <a:tbl>
              <a:tblPr/>
              <a:tblGrid>
                <a:gridCol w="2514600"/>
                <a:gridCol w="1257300"/>
                <a:gridCol w="1828800"/>
                <a:gridCol w="1143000"/>
                <a:gridCol w="1485900"/>
                <a:gridCol w="1485900"/>
                <a:gridCol w="1714500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Saldo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Cob.(d)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Lead Time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Dias 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Ação Recomendada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Rolamento 6205 ZZ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124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2C30E"/>
                          </a:solidFill>
                        </a:rPr>
                        <a:t>Normal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Monitorar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Correia V-Belt A47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8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Crítico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Filtro de Óleo XT-12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7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Chapa Aço 1020 3mm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560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Excesso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Reduzir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Retentor 40x62x8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35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Abaixo do Mínimo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Programar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82880" y="228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" y="1051560"/>
            <a:ext cx="2157984" cy="384048"/>
          </a:xfrm>
          <a:prstGeom prst="roundRect">
            <a:avLst>
              <a:gd name="adj" fmla="val 11905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1051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1490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Crítico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929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Abaixo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2368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Atrasado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28072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Excesso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8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Executivo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657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lateral fixa entre páginas do relatório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601200" y="384048"/>
            <a:ext cx="1042416" cy="274320"/>
          </a:xfrm>
          <a:prstGeom prst="roundRect">
            <a:avLst>
              <a:gd name="adj" fmla="val 166667"/>
            </a:avLst>
          </a:prstGeom>
          <a:solidFill>
            <a:srgbClr val="E3E6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0" y="3840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753344" y="384048"/>
            <a:ext cx="1042416" cy="274320"/>
          </a:xfrm>
          <a:prstGeom prst="roundRect">
            <a:avLst>
              <a:gd name="adj" fmla="val 166667"/>
            </a:avLst>
          </a:prstGeom>
          <a:solidFill>
            <a:srgbClr val="E3E6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753344" y="3840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697480" y="868680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07208" y="1143000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953512" y="941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2953512" y="13258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 PENDENTES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83480" y="868680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93208" y="1143000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39512" y="941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96,4%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239512" y="13258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ACURACIDADE DE ESTOQUE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69480" y="868680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79208" y="1143000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525512" y="941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(9)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525512" y="13258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PEDIDOS ATRASADOS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555480" y="868680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65208" y="1143000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811512" y="941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811512" y="13258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ABAIXO DO MÍNIMO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97480" y="1691640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07208" y="1965960"/>
            <a:ext cx="82296" cy="1645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953512" y="17647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R$ 4,82M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2953512" y="21488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EM ESTOQUE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983480" y="1691640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93208" y="1965960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239512" y="17647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dias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5239512" y="21488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ESTOQUE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269480" y="1691640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79208" y="1965960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525512" y="17647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R$ 356k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525512" y="21488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EM EXCESSO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555480" y="1691640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65208" y="1965960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811512" y="17647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9811512" y="21488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RUPTURA</a:t>
            </a:r>
            <a:endParaRPr lang="en-US" sz="800" dirty="0"/>
          </a:p>
        </p:txBody>
      </p:sp>
      <p:graphicFrame>
        <p:nvGraphicFramePr>
          <p:cNvPr id="50" name="Chart 0" descr=""/>
          <p:cNvGraphicFramePr/>
          <p:nvPr/>
        </p:nvGraphicFramePr>
        <p:xfrm>
          <a:off x="2697480" y="251460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1" name="Chart 1" descr=""/>
          <p:cNvGraphicFramePr/>
          <p:nvPr/>
        </p:nvGraphicFramePr>
        <p:xfrm>
          <a:off x="7406640" y="2514600"/>
          <a:ext cx="43891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97480" y="4617720"/>
          <a:ext cx="9144000" cy="187452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463040"/>
                <a:gridCol w="914400"/>
                <a:gridCol w="1188720"/>
                <a:gridCol w="1188720"/>
                <a:gridCol w="1371600"/>
              </a:tblGrid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Saldo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Cob.(d)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Lead Time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Dias 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Ação Recomendada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Rolamento 6205 ZZ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124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2C30E"/>
                          </a:solidFill>
                        </a:rPr>
                        <a:t>Normal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Monitorar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Correia V-Belt A47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8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Crítico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Filtro de Óleo XT-12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7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Chapa Aço 1020 3mm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560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Excesso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Reduzir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Retentor 40x62x8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35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Abaixo do Mínimo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Programar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Operacional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65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por status + fluxo de decisão de compra em destaque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243584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941832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5270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RUPTURA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04288" y="868680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14016" y="1243584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60320" y="941832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15270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ABAIXO DO MÍNIMO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42816" y="868680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2544" y="1243584"/>
            <a:ext cx="822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98848" y="941832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15270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PONTO DE REPOSIÇÃO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81344" y="868680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1243584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7376" y="941832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96,4%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15270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ACURACIDADE DE ESTOQUE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119872" y="868680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1243584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75904" y="941832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R$ 356k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15270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EM EXCESSO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058400" y="868680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68128" y="1243584"/>
            <a:ext cx="82296" cy="16459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314432" y="941832"/>
            <a:ext cx="1444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314432" y="15270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EM ESTOQUE PARADO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1965960"/>
            <a:ext cx="7315200" cy="1600200"/>
          </a:xfrm>
          <a:prstGeom prst="roundRect">
            <a:avLst>
              <a:gd name="adj" fmla="val 3429"/>
            </a:avLst>
          </a:prstGeom>
          <a:solidFill>
            <a:srgbClr val="24324E"/>
          </a:solidFill>
          <a:ln w="12700">
            <a:solidFill>
              <a:srgbClr val="3342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2920" y="203911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MATERIAIS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2446020"/>
            <a:ext cx="2103120" cy="640080"/>
          </a:xfrm>
          <a:prstGeom prst="roundRect">
            <a:avLst>
              <a:gd name="adj" fmla="val 7143"/>
            </a:avLst>
          </a:prstGeom>
          <a:solidFill>
            <a:srgbClr val="14213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02920" y="24460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06040" y="2674620"/>
            <a:ext cx="320040" cy="182880"/>
          </a:xfrm>
          <a:prstGeom prst="rightArrow">
            <a:avLst/>
          </a:prstGeom>
          <a:solidFill>
            <a:srgbClr val="AEB8C4"/>
          </a:solidFill>
          <a:ln/>
        </p:spPr>
      </p:sp>
      <p:sp>
        <p:nvSpPr>
          <p:cNvPr id="34" name="Shape 32"/>
          <p:cNvSpPr/>
          <p:nvPr/>
        </p:nvSpPr>
        <p:spPr>
          <a:xfrm>
            <a:off x="2971800" y="2446020"/>
            <a:ext cx="2103120" cy="640080"/>
          </a:xfrm>
          <a:prstGeom prst="roundRect">
            <a:avLst>
              <a:gd name="adj" fmla="val 7143"/>
            </a:avLst>
          </a:prstGeom>
          <a:solidFill>
            <a:srgbClr val="E8A33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971800" y="24460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Pedido?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74920" y="2674620"/>
            <a:ext cx="320040" cy="182880"/>
          </a:xfrm>
          <a:prstGeom prst="rightArrow">
            <a:avLst/>
          </a:prstGeom>
          <a:solidFill>
            <a:srgbClr val="AEB8C4"/>
          </a:solidFill>
          <a:ln/>
        </p:spPr>
      </p:sp>
      <p:sp>
        <p:nvSpPr>
          <p:cNvPr id="37" name="Shape 35"/>
          <p:cNvSpPr/>
          <p:nvPr/>
        </p:nvSpPr>
        <p:spPr>
          <a:xfrm>
            <a:off x="5440680" y="2446020"/>
            <a:ext cx="2103120" cy="640080"/>
          </a:xfrm>
          <a:prstGeom prst="roundRect">
            <a:avLst>
              <a:gd name="adj" fmla="val 7143"/>
            </a:avLst>
          </a:prstGeom>
          <a:solidFill>
            <a:srgbClr val="32C30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40680" y="24460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63840" y="1965960"/>
            <a:ext cx="1237488" cy="274320"/>
          </a:xfrm>
          <a:prstGeom prst="roundRect">
            <a:avLst>
              <a:gd name="adj" fmla="val 166667"/>
            </a:avLst>
          </a:prstGeom>
          <a:solidFill>
            <a:srgbClr val="33425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863840" y="1965960"/>
            <a:ext cx="123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ABC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211056" y="1965960"/>
            <a:ext cx="1237488" cy="274320"/>
          </a:xfrm>
          <a:prstGeom prst="roundRect">
            <a:avLst>
              <a:gd name="adj" fmla="val 166667"/>
            </a:avLst>
          </a:prstGeom>
          <a:solidFill>
            <a:srgbClr val="33425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211056" y="1965960"/>
            <a:ext cx="123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558272" y="1965960"/>
            <a:ext cx="1237488" cy="274320"/>
          </a:xfrm>
          <a:prstGeom prst="roundRect">
            <a:avLst>
              <a:gd name="adj" fmla="val 166667"/>
            </a:avLst>
          </a:prstGeom>
          <a:solidFill>
            <a:srgbClr val="33425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558272" y="1965960"/>
            <a:ext cx="123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8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7863840" y="2377440"/>
          <a:ext cx="39319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6" name="Chart 1" descr=""/>
          <p:cNvGraphicFramePr/>
          <p:nvPr/>
        </p:nvGraphicFramePr>
        <p:xfrm>
          <a:off x="365760" y="3749040"/>
          <a:ext cx="55778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3749040"/>
          <a:ext cx="5669280" cy="2651760"/>
        </p:xfrm>
        <a:graphic>
          <a:graphicData uri="http://schemas.openxmlformats.org/drawingml/2006/table">
            <a:tbl>
              <a:tblPr/>
              <a:tblGrid>
                <a:gridCol w="1247242"/>
                <a:gridCol w="623621"/>
                <a:gridCol w="907085"/>
                <a:gridCol w="566928"/>
                <a:gridCol w="737006"/>
                <a:gridCol w="737006"/>
                <a:gridCol w="850392"/>
              </a:tblGrid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Saldo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Cob.(d)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Lead Time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Dias 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Ação Recomendada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3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Rolamento 6205 ZZ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124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2C30E"/>
                          </a:solidFill>
                        </a:rPr>
                        <a:t>Normal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Monitorar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Correia V-Belt A47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8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Crítico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Filtro de Óleo XT-12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7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Chapa Aço 1020 3mm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560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Excesso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Reduzir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Retentor 40x62x8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35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Abaixo do Mínimo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Programar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2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4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Minimalista Clean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365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números, muito espaço em branco, foco no essencial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700784"/>
            <a:ext cx="82296" cy="1645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261872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R$ 4,82M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1214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EM ESTOQUE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97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1700784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02152" y="1261872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1214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ACURACIDADE DE ESTOQUE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97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00784"/>
            <a:ext cx="82296" cy="164592"/>
          </a:xfrm>
          <a:prstGeom prst="rect">
            <a:avLst/>
          </a:prstGeom>
          <a:solidFill>
            <a:srgbClr val="32C30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82512" y="1261872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C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dias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382512" y="21214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ESTOQUE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006840" y="1188720"/>
            <a:ext cx="2697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16568" y="1700784"/>
            <a:ext cx="82296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62872" y="1261872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(9)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262872" y="21214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PEDIDOS ATRASADOS</a:t>
            </a:r>
            <a:endParaRPr lang="en-US" sz="8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2880360"/>
          <a:ext cx="7040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2880360"/>
          <a:ext cx="4160520" cy="2743200"/>
        </p:xfrm>
        <a:graphic>
          <a:graphicData uri="http://schemas.openxmlformats.org/drawingml/2006/table">
            <a:tbl>
              <a:tblPr/>
              <a:tblGrid>
                <a:gridCol w="915314"/>
                <a:gridCol w="457657"/>
                <a:gridCol w="665683"/>
                <a:gridCol w="416052"/>
                <a:gridCol w="540868"/>
                <a:gridCol w="540868"/>
                <a:gridCol w="62407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Saldo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Cob.(d)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Lead Time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Dias 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Ação Recomendada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Rolamento 6205 ZZ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124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2C30E"/>
                          </a:solidFill>
                        </a:rPr>
                        <a:t>Normal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Monitorar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Correia V-Belt A47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8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Crítico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Filtro de Óleo XT-12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550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7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Ruptura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Comprar urgente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Chapa Aço 1020 3mm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560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Excesso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210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30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Reduzir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Retentor 40x62x8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35 un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A33D"/>
                          </a:solidFill>
                        </a:rPr>
                        <a:t>Abaixo do Mínimo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15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5 dias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</a:rPr>
                        <a:t>Programar compra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a versão, validar com dados reais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reconstruir no Power BI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Sugestão: Versões 1, 5 e 8 tendem a ler melhor em contexto corporativo/apresentação a gestores; 3 e 9 priorizam ação rápida em campo/operação.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2026-09-05T13:56:23Z</dcterms:created>
  <dcterms:modified xsi:type="dcterms:W3CDTF">2026-09-05T13:56:23Z</dcterms:modified>
</cp:coreProperties>
</file>